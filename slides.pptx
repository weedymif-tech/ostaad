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Predicting Concrete Compressive Strength for Unseen Mixtures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C8D3E8"/>
                </a:solidFill>
              </a:defRPr>
            </a:pPr>
            <a:r>
              <a:t>Tree ensembles, ratio features, and the cost of random splitting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C8D3E8"/>
                </a:solidFill>
              </a:defRPr>
            </a:pPr>
            <a:r>
              <a:t>Mohiminul Islam Fardin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C72B0"/>
                </a:solidFill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Strength is confirmed only after 28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555555"/>
                </a:solidFill>
              </a:defRPr>
            </a:pPr>
            <a:r>
              <a:t>•  Predicting strength from the mix design would cut trial batches and support cost- and carbon-aware design</a:t>
            </a:r>
          </a:p>
          <a:p>
            <a:pPr>
              <a:spcAft>
                <a:spcPts val="1000"/>
              </a:spcAft>
              <a:defRPr sz="2000" b="0">
                <a:solidFill>
                  <a:srgbClr val="555555"/>
                </a:solidFill>
              </a:defRPr>
            </a:pPr>
            <a:r>
              <a:t>•  Published ML models report R² above 0.95 on the UCI dataset (Feng et al., 2020)</a:t>
            </a:r>
          </a:p>
          <a:p>
            <a:pPr>
              <a:spcAft>
                <a:spcPts val="1000"/>
              </a:spcAft>
              <a:defRPr sz="2000" b="0">
                <a:solidFill>
                  <a:srgbClr val="555555"/>
                </a:solidFill>
              </a:defRPr>
            </a:pPr>
            <a:r>
              <a:t>•  But most split the data at random, while each mixture is tested at several ages</a:t>
            </a:r>
          </a:p>
          <a:p>
            <a:pPr>
              <a:spcAft>
                <a:spcPts val="1000"/>
              </a:spcAft>
              <a:defRPr sz="2000" b="0">
                <a:solidFill>
                  <a:srgbClr val="555555"/>
                </a:solidFill>
              </a:defRPr>
            </a:pPr>
            <a:r>
              <a:t>•  So the same recipe can appear in both training and test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82880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F2A44"/>
                </a:solidFill>
              </a:defRPr>
            </a:pPr>
            <a:r>
              <a:t>Research question</a:t>
            </a:r>
          </a:p>
          <a:p>
            <a:pPr>
              <a:spcAft>
                <a:spcPts val="1000"/>
              </a:spcAft>
              <a:defRPr sz="1900" b="0">
                <a:solidFill>
                  <a:srgbClr val="1F2A44"/>
                </a:solidFill>
              </a:defRPr>
            </a:pPr>
            <a:r>
              <a:t>How accurately can strength be predicted for mixtures the model has never seen, and do tree ensembles with ratio features beat a linear baseline?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C72B0"/>
                </a:solidFill>
              </a:defRPr>
            </a:pPr>
            <a: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Grouped evaluation on 428 distinct mixtures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555555"/>
                </a:solidFill>
              </a:defRPr>
            </a:pPr>
            <a:r>
              <a:t>•  UCI dataset (Yeh, 1998): 1,030 tests → 996 records after removing duplicates and averaging replicates</a:t>
            </a:r>
          </a:p>
          <a:p>
            <a:pPr>
              <a:spcAft>
                <a:spcPts val="1000"/>
              </a:spcAft>
              <a:defRPr sz="1900" b="0">
                <a:solidFill>
                  <a:srgbClr val="555555"/>
                </a:solidFill>
              </a:defRPr>
            </a:pPr>
            <a:r>
              <a:t>•  Features: 8 raw inputs vs 15 engineered (water/binder, water/cement, log-age, …)</a:t>
            </a:r>
          </a:p>
          <a:p>
            <a:pPr>
              <a:spcAft>
                <a:spcPts val="1000"/>
              </a:spcAft>
              <a:defRPr sz="1900" b="0">
                <a:solidFill>
                  <a:srgbClr val="555555"/>
                </a:solidFill>
              </a:defRPr>
            </a:pPr>
            <a:r>
              <a:t>•  Models: Linear Regression, Random Forest, Gradient Boosting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555555"/>
                </a:solidFill>
              </a:defRPr>
            </a:pPr>
            <a:r>
              <a:t>•  Test set: 20% of mixtures held out whole (86 mixtures)</a:t>
            </a:r>
          </a:p>
          <a:p>
            <a:pPr>
              <a:spcAft>
                <a:spcPts val="1000"/>
              </a:spcAft>
              <a:defRPr sz="1900" b="0">
                <a:solidFill>
                  <a:srgbClr val="555555"/>
                </a:solidFill>
              </a:defRPr>
            </a:pPr>
            <a:r>
              <a:t>•  Tuning: randomised search, 5-fold GroupKFold on training data</a:t>
            </a:r>
          </a:p>
          <a:p>
            <a:pPr>
              <a:spcAft>
                <a:spcPts val="1000"/>
              </a:spcAft>
              <a:defRPr sz="1900" b="0">
                <a:solidFill>
                  <a:srgbClr val="555555"/>
                </a:solidFill>
              </a:defRPr>
            </a:pPr>
            <a:r>
              <a:t>•  Metrics: RMSE (primary), MAE, R²</a:t>
            </a:r>
          </a:p>
          <a:p>
            <a:pPr>
              <a:spcAft>
                <a:spcPts val="1000"/>
              </a:spcAft>
              <a:defRPr sz="1900" b="0">
                <a:solidFill>
                  <a:srgbClr val="555555"/>
                </a:solidFill>
              </a:defRPr>
            </a:pPr>
            <a:r>
              <a:t>•  Leakage check: grouped vs random split over 10 seeds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C72B0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Gradient Boosting + ratio features: RMSE 4.40 MPa, R² 0.926</a:t>
            </a:r>
          </a:p>
        </p:txBody>
      </p:sp>
      <p:pic>
        <p:nvPicPr>
          <p:cNvPr id="5" name="Picture 4" descr="fig1_test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9248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82880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55555"/>
                </a:solidFill>
              </a:defRPr>
            </a:pPr>
            <a:r>
              <a:t>•  Ensembles clearly beat the linear baseline</a:t>
            </a:r>
          </a:p>
          <a:p>
            <a:pPr>
              <a:spcAft>
                <a:spcPts val="1000"/>
              </a:spcAft>
              <a:defRPr sz="1700" b="0">
                <a:solidFill>
                  <a:srgbClr val="555555"/>
                </a:solidFill>
              </a:defRPr>
            </a:pPr>
            <a:r>
              <a:t>•  Ratio features improved every model</a:t>
            </a:r>
          </a:p>
          <a:p>
            <a:pPr>
              <a:spcAft>
                <a:spcPts val="1000"/>
              </a:spcAft>
              <a:defRPr sz="1700" b="0">
                <a:solidFill>
                  <a:srgbClr val="555555"/>
                </a:solidFill>
              </a:defRPr>
            </a:pPr>
            <a:r>
              <a:t>•  Linear RMSE fell 9.59 → 6.56 MPa</a:t>
            </a:r>
          </a:p>
          <a:p>
            <a:pPr>
              <a:spcAft>
                <a:spcPts val="1000"/>
              </a:spcAft>
              <a:defRPr sz="1700" b="0">
                <a:solidFill>
                  <a:srgbClr val="555555"/>
                </a:solidFill>
              </a:defRPr>
            </a:pPr>
            <a:r>
              <a:t>•  Top predictors: log-age, water/binder, water/cement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C72B0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Random splitting understates error by about a quarter</a:t>
            </a:r>
          </a:p>
        </p:txBody>
      </p:sp>
      <p:pic>
        <p:nvPicPr>
          <p:cNvPr id="5" name="Picture 4" descr="fig2_split_lea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64389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18288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555555"/>
                </a:solidFill>
              </a:defRPr>
            </a:pPr>
            <a:r>
              <a:t>•  Random split: 105 of 155 test mixtures also seen in training</a:t>
            </a:r>
          </a:p>
          <a:p>
            <a:pPr>
              <a:spcAft>
                <a:spcPts val="1000"/>
              </a:spcAft>
              <a:defRPr sz="1800" b="0">
                <a:solidFill>
                  <a:srgbClr val="555555"/>
                </a:solidFill>
              </a:defRPr>
            </a:pPr>
            <a:r>
              <a:t>•  Mean RMSE 3.89 MPa (random) vs 5.12 MPa (grouped)</a:t>
            </a:r>
          </a:p>
          <a:p>
            <a:pPr>
              <a:spcAft>
                <a:spcPts val="1000"/>
              </a:spcAft>
              <a:defRPr sz="1800" b="0">
                <a:solidFill>
                  <a:srgbClr val="555555"/>
                </a:solidFill>
              </a:defRPr>
            </a:pPr>
            <a:r>
              <a:t>•  ≈5 MPa is the realistic error for a genuinely new mix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4C72B0"/>
                </a:solidFill>
              </a:defRPr>
            </a:pPr>
            <a: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Feature design and evaluation design both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555555"/>
                </a:solidFill>
              </a:defRPr>
            </a:pPr>
            <a:r>
              <a:t>•  Tree ensembles with physically grounded ratio features predict new mixtures to about 4–5 MPa</a:t>
            </a:r>
          </a:p>
          <a:p>
            <a:pPr>
              <a:spcAft>
                <a:spcPts val="1000"/>
              </a:spcAft>
              <a:defRPr sz="2100" b="0">
                <a:solidFill>
                  <a:srgbClr val="555555"/>
                </a:solidFill>
              </a:defRPr>
            </a:pPr>
            <a:r>
              <a:t>•  Learned importances agree with Abrams' law and hydration kinetics</a:t>
            </a:r>
          </a:p>
          <a:p>
            <a:pPr>
              <a:spcAft>
                <a:spcPts val="1000"/>
              </a:spcAft>
              <a:defRPr sz="2100" b="0">
                <a:solidFill>
                  <a:srgbClr val="555555"/>
                </a:solidFill>
              </a:defRPr>
            </a:pPr>
            <a:r>
              <a:t>•  Accuracy claims from random splits on this dataset are optimistic; group by mixture</a:t>
            </a:r>
          </a:p>
          <a:p>
            <a:pPr>
              <a:spcAft>
                <a:spcPts val="1000"/>
              </a:spcAft>
              <a:defRPr sz="2100" b="0">
                <a:solidFill>
                  <a:srgbClr val="555555"/>
                </a:solidFill>
              </a:defRPr>
            </a:pPr>
            <a:r>
              <a:t>•  Limits: laboratory data only, missing variables (cement type, curing conditions), point estimates</a:t>
            </a:r>
          </a:p>
          <a:p>
            <a:pPr>
              <a:spcAft>
                <a:spcPts val="1000"/>
              </a:spcAft>
              <a:defRPr sz="2100" b="0">
                <a:solidFill>
                  <a:srgbClr val="555555"/>
                </a:solidFill>
              </a:defRPr>
            </a:pPr>
            <a:r>
              <a:t>•  Next: prediction intervals, monotonic boosting, validation on job-site data (Young et al., 2019)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